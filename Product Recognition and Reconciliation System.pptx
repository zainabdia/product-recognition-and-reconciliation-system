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C0D8F753-A499-43CE-822F-FD8446826274}" type="datetimeFigureOut">
              <a:rPr lang="en-US" smtClean="0"/>
              <a:t>10/10/2025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B1350121-203D-48AD-9795-D45DFEAE6E1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9331506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D8F753-A499-43CE-822F-FD844682627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642377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D8F753-A499-43CE-822F-FD844682627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50121-203D-48AD-9795-D45DFEAE6E1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53519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0D8F753-A499-43CE-822F-FD844682627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687566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0D8F753-A499-43CE-822F-FD8446826274}" type="datetimeFigureOut">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2190704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0D8F753-A499-43CE-822F-FD8446826274}" type="datetimeFigureOut">
              <a:rPr lang="en-US" smtClean="0"/>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3741414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D8F753-A499-43CE-822F-FD8446826274}" type="datetimeFigureOut">
              <a:rPr lang="en-US" smtClean="0"/>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3424206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0D8F753-A499-43CE-822F-FD844682627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2633380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0D8F753-A499-43CE-822F-FD844682627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2180980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D8F753-A499-43CE-822F-FD844682627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141877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D8F753-A499-43CE-822F-FD844682627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350121-203D-48AD-9795-D45DFEAE6E1E}" type="slidenum">
              <a:rPr lang="en-US" smtClean="0"/>
              <a:t>‹#›</a:t>
            </a:fld>
            <a:endParaRPr lang="en-US"/>
          </a:p>
        </p:txBody>
      </p:sp>
    </p:spTree>
    <p:extLst>
      <p:ext uri="{BB962C8B-B14F-4D97-AF65-F5344CB8AC3E}">
        <p14:creationId xmlns:p14="http://schemas.microsoft.com/office/powerpoint/2010/main" val="251117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C0D8F753-A499-43CE-822F-FD8446826274}" type="datetimeFigureOut">
              <a:rPr lang="en-US" smtClean="0"/>
              <a:t>10/10/2025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B1350121-203D-48AD-9795-D45DFEAE6E1E}" type="slidenum">
              <a:rPr lang="en-US" smtClean="0"/>
              <a:t>‹#›</a:t>
            </a:fld>
            <a:endParaRPr lang="en-US"/>
          </a:p>
        </p:txBody>
      </p:sp>
    </p:spTree>
    <p:extLst>
      <p:ext uri="{BB962C8B-B14F-4D97-AF65-F5344CB8AC3E}">
        <p14:creationId xmlns:p14="http://schemas.microsoft.com/office/powerpoint/2010/main" val="18618198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Product Recognition and Reconciliation System </a:t>
            </a:r>
          </a:p>
        </p:txBody>
      </p:sp>
      <p:sp>
        <p:nvSpPr>
          <p:cNvPr id="3" name="Subtitle 2"/>
          <p:cNvSpPr>
            <a:spLocks noGrp="1"/>
          </p:cNvSpPr>
          <p:nvPr>
            <p:ph type="subTitle" idx="1"/>
          </p:nvPr>
        </p:nvSpPr>
        <p:spPr/>
        <p:txBody>
          <a:bodyPr/>
          <a:lstStyle/>
          <a:p>
            <a:r>
              <a:rPr lang="en-US" dirty="0" err="1" smtClean="0"/>
              <a:t>Zainab</a:t>
            </a:r>
            <a:r>
              <a:rPr lang="en-US" dirty="0" smtClean="0"/>
              <a:t> </a:t>
            </a:r>
            <a:r>
              <a:rPr lang="en-US" dirty="0" err="1" smtClean="0"/>
              <a:t>Dia</a:t>
            </a:r>
            <a:endParaRPr lang="en-US" dirty="0" smtClean="0"/>
          </a:p>
          <a:p>
            <a:r>
              <a:rPr lang="en-US" dirty="0" smtClean="0"/>
              <a:t>Mohammad </a:t>
            </a:r>
            <a:r>
              <a:rPr lang="en-US" dirty="0" err="1" smtClean="0"/>
              <a:t>Iskandarani</a:t>
            </a:r>
            <a:endParaRPr lang="en-US" dirty="0"/>
          </a:p>
        </p:txBody>
      </p:sp>
    </p:spTree>
    <p:extLst>
      <p:ext uri="{BB962C8B-B14F-4D97-AF65-F5344CB8AC3E}">
        <p14:creationId xmlns:p14="http://schemas.microsoft.com/office/powerpoint/2010/main" val="287426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sz="2000" dirty="0" smtClean="0"/>
              <a:t>Many retail stores rely on product tags in order to retrieve important information(color, price, stock availability, etc.)</a:t>
            </a:r>
          </a:p>
          <a:p>
            <a:r>
              <a:rPr lang="en-US" sz="2000" dirty="0"/>
              <a:t>W</a:t>
            </a:r>
            <a:r>
              <a:rPr lang="en-US" sz="2000" dirty="0" smtClean="0"/>
              <a:t>hen </a:t>
            </a:r>
            <a:r>
              <a:rPr lang="en-US" sz="2000" dirty="0"/>
              <a:t>these tags are </a:t>
            </a:r>
            <a:r>
              <a:rPr lang="en-US" sz="2000" dirty="0" smtClean="0"/>
              <a:t>missing, </a:t>
            </a:r>
            <a:r>
              <a:rPr lang="en-US" sz="2000" dirty="0"/>
              <a:t>employees are unable to access this information, leading to disruptions in operations and customer service</a:t>
            </a:r>
            <a:r>
              <a:rPr lang="en-US" sz="2000" dirty="0" smtClean="0"/>
              <a:t>.</a:t>
            </a:r>
          </a:p>
          <a:p>
            <a:r>
              <a:rPr lang="en-US" sz="2000" dirty="0" smtClean="0"/>
              <a:t>Our </a:t>
            </a:r>
            <a:r>
              <a:rPr lang="en-US" sz="2000" dirty="0"/>
              <a:t>project aims to address this issue by developing an </a:t>
            </a:r>
            <a:r>
              <a:rPr lang="en-US" sz="2000" dirty="0" smtClean="0"/>
              <a:t>AI-based </a:t>
            </a:r>
            <a:r>
              <a:rPr lang="en-US" sz="2000" dirty="0"/>
              <a:t>system capable of identifying products and retrieving their details even </a:t>
            </a:r>
            <a:r>
              <a:rPr lang="en-US" sz="2000" dirty="0" smtClean="0"/>
              <a:t>when tags </a:t>
            </a:r>
            <a:r>
              <a:rPr lang="en-US" sz="2000" dirty="0"/>
              <a:t>are unavailable.</a:t>
            </a:r>
            <a:endParaRPr lang="en-US" sz="2000" dirty="0" smtClean="0"/>
          </a:p>
          <a:p>
            <a:endParaRPr lang="en-US" dirty="0"/>
          </a:p>
        </p:txBody>
      </p:sp>
    </p:spTree>
    <p:extLst>
      <p:ext uri="{BB962C8B-B14F-4D97-AF65-F5344CB8AC3E}">
        <p14:creationId xmlns:p14="http://schemas.microsoft.com/office/powerpoint/2010/main" val="119620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a:t>
            </a:r>
            <a:endParaRPr lang="en-US" dirty="0"/>
          </a:p>
        </p:txBody>
      </p:sp>
      <p:sp>
        <p:nvSpPr>
          <p:cNvPr id="5" name="Rectangle 2"/>
          <p:cNvSpPr>
            <a:spLocks noGrp="1" noChangeArrowheads="1"/>
          </p:cNvSpPr>
          <p:nvPr>
            <p:ph idx="1"/>
          </p:nvPr>
        </p:nvSpPr>
        <p:spPr bwMode="auto">
          <a:xfrm>
            <a:off x="495389" y="1715209"/>
            <a:ext cx="955652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Mobile App Camera:</a:t>
            </a:r>
            <a:r>
              <a:rPr kumimoji="0" lang="en-US" altLang="en-US" sz="1800" b="0" i="0" u="none" strike="noStrike" cap="none" normalizeH="0" baseline="0" dirty="0" smtClean="0">
                <a:ln>
                  <a:noFill/>
                </a:ln>
                <a:solidFill>
                  <a:schemeClr val="tx1"/>
                </a:solidFill>
                <a:effectLst/>
                <a:latin typeface="Arial" panose="020B0604020202020204" pitchFamily="34" charset="0"/>
              </a:rPr>
              <a:t> capture product images or tags.</a:t>
            </a: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Website</a:t>
            </a:r>
            <a:r>
              <a:rPr kumimoji="0" lang="en-US" altLang="en-US" sz="1800" b="1" i="0" u="none" strike="noStrike" cap="none" normalizeH="0" dirty="0" smtClean="0">
                <a:ln>
                  <a:noFill/>
                </a:ln>
                <a:solidFill>
                  <a:schemeClr val="tx1"/>
                </a:solidFill>
                <a:effectLst/>
                <a:latin typeface="Arial" panose="020B0604020202020204" pitchFamily="34" charset="0"/>
              </a:rPr>
              <a:t> Results: </a:t>
            </a:r>
            <a:r>
              <a:rPr kumimoji="0" lang="en-US" altLang="en-US" sz="1800" b="0" i="0" u="none" strike="noStrike" cap="none" normalizeH="0" dirty="0" smtClean="0">
                <a:ln>
                  <a:noFill/>
                </a:ln>
                <a:solidFill>
                  <a:schemeClr val="tx1"/>
                </a:solidFill>
                <a:effectLst/>
                <a:latin typeface="Arial" panose="020B0604020202020204" pitchFamily="34" charset="0"/>
              </a:rPr>
              <a:t>results of AI recognition are shown on a web interface.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Internal Tag Recognition:</a:t>
            </a:r>
            <a:r>
              <a:rPr kumimoji="0" lang="en-US" altLang="en-US" sz="1800" b="0" i="0" u="none" strike="noStrike" cap="none" normalizeH="0" baseline="0" dirty="0" smtClean="0">
                <a:ln>
                  <a:noFill/>
                </a:ln>
                <a:solidFill>
                  <a:schemeClr val="tx1"/>
                </a:solidFill>
                <a:effectLst/>
                <a:latin typeface="Arial" panose="020B0604020202020204" pitchFamily="34" charset="0"/>
              </a:rPr>
              <a:t> reads product tags using OCR.</a:t>
            </a:r>
          </a:p>
          <a:p>
            <a:pPr eaLnBrk="0" fontAlgn="base" hangingPunct="0">
              <a:lnSpc>
                <a:spcPct val="100000"/>
              </a:lnSpc>
              <a:spcBef>
                <a:spcPct val="0"/>
              </a:spcBef>
              <a:spcAft>
                <a:spcPct val="0"/>
              </a:spcAft>
              <a:buClrTx/>
              <a:buSzTx/>
            </a:pPr>
            <a:r>
              <a:rPr lang="en-US" altLang="en-US" b="1" dirty="0" smtClean="0">
                <a:latin typeface="Arial" panose="020B0604020202020204" pitchFamily="34" charset="0"/>
              </a:rPr>
              <a:t>im</a:t>
            </a:r>
            <a:r>
              <a:rPr kumimoji="0" lang="en-US" altLang="en-US" sz="1800" b="1" i="0" u="none" strike="noStrike" cap="none" normalizeH="0" baseline="0" dirty="0" smtClean="0">
                <a:ln>
                  <a:noFill/>
                </a:ln>
                <a:solidFill>
                  <a:schemeClr val="tx1"/>
                </a:solidFill>
                <a:effectLst/>
                <a:latin typeface="Arial" panose="020B0604020202020204" pitchFamily="34" charset="0"/>
              </a:rPr>
              <a:t>age</a:t>
            </a:r>
            <a:r>
              <a:rPr kumimoji="0" lang="en-US" altLang="en-US" sz="1800" b="1" i="0" u="none" strike="noStrike" cap="none" normalizeH="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Based Fallback:</a:t>
            </a:r>
            <a:r>
              <a:rPr kumimoji="0" lang="en-US" altLang="en-US" sz="1800" b="0" i="0" u="none" strike="noStrike" cap="none" normalizeH="0" baseline="0" dirty="0" smtClean="0">
                <a:ln>
                  <a:noFill/>
                </a:ln>
                <a:solidFill>
                  <a:schemeClr val="tx1"/>
                </a:solidFill>
                <a:effectLst/>
                <a:latin typeface="Arial" panose="020B0604020202020204" pitchFamily="34" charset="0"/>
              </a:rPr>
              <a:t> analyzes product photos if tags are missing.</a:t>
            </a: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Price Suggestion &amp; Ref Creation:</a:t>
            </a:r>
            <a:r>
              <a:rPr kumimoji="0" lang="en-US" altLang="en-US" sz="1800" b="0" i="0" u="none" strike="noStrike" cap="none" normalizeH="0" baseline="0" dirty="0" smtClean="0">
                <a:ln>
                  <a:noFill/>
                </a:ln>
                <a:solidFill>
                  <a:schemeClr val="tx1"/>
                </a:solidFill>
                <a:effectLst/>
                <a:latin typeface="Arial" panose="020B0604020202020204" pitchFamily="34" charset="0"/>
              </a:rPr>
              <a:t> AI suggests prices and generates unique references.</a:t>
            </a:r>
          </a:p>
          <a:p>
            <a:pPr eaLnBrk="0" fontAlgn="base" hangingPunct="0">
              <a:lnSpc>
                <a:spcPct val="100000"/>
              </a:lnSpc>
              <a:spcBef>
                <a:spcPct val="0"/>
              </a:spcBef>
              <a:spcAft>
                <a:spcPct val="0"/>
              </a:spcAft>
              <a:buClrTx/>
              <a:buSzTx/>
            </a:pPr>
            <a:r>
              <a:rPr lang="en-US" altLang="en-US" b="1" dirty="0">
                <a:latin typeface="Arial" panose="020B0604020202020204" pitchFamily="34" charset="0"/>
              </a:rPr>
              <a:t>S</a:t>
            </a:r>
            <a:r>
              <a:rPr kumimoji="0" lang="en-US" altLang="en-US" sz="1800" b="1" i="0" u="none" strike="noStrike" cap="none" normalizeH="0" baseline="0" dirty="0" smtClean="0">
                <a:ln>
                  <a:noFill/>
                </a:ln>
                <a:solidFill>
                  <a:schemeClr val="tx1"/>
                </a:solidFill>
                <a:effectLst/>
                <a:latin typeface="Arial" panose="020B0604020202020204" pitchFamily="34" charset="0"/>
              </a:rPr>
              <a:t>upervisor Approval:</a:t>
            </a:r>
            <a:r>
              <a:rPr kumimoji="0" lang="en-US" altLang="en-US" sz="1800" b="0" i="0" u="none" strike="noStrike" cap="none" normalizeH="0" baseline="0" dirty="0" smtClean="0">
                <a:ln>
                  <a:noFill/>
                </a:ln>
                <a:solidFill>
                  <a:schemeClr val="tx1"/>
                </a:solidFill>
                <a:effectLst/>
                <a:latin typeface="Arial" panose="020B0604020202020204" pitchFamily="34" charset="0"/>
              </a:rPr>
              <a:t> ensures new references are approved before database entry</a:t>
            </a:r>
            <a:r>
              <a:rPr kumimoji="0" lang="en-US" altLang="en-US" sz="1800" b="0" i="0" u="none" strike="noStrike" cap="none" normalizeH="0" baseline="0" dirty="0" smtClean="0">
                <a:ln>
                  <a:noFill/>
                </a:ln>
                <a:solidFill>
                  <a:schemeClr val="tx1"/>
                </a:solidFill>
                <a:effectLst/>
                <a:latin typeface="Arial" panose="020B0604020202020204" pitchFamily="34"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Vector Embedded Database:</a:t>
            </a:r>
            <a:r>
              <a:rPr kumimoji="0" lang="en-US" altLang="en-US" sz="1800" b="0" i="0" u="none" strike="noStrike" cap="none" normalizeH="0" baseline="0" dirty="0" smtClean="0">
                <a:ln>
                  <a:noFill/>
                </a:ln>
                <a:solidFill>
                  <a:schemeClr val="tx1"/>
                </a:solidFill>
                <a:effectLst/>
                <a:latin typeface="Arial" panose="020B0604020202020204" pitchFamily="34" charset="0"/>
              </a:rPr>
              <a:t> stores products as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for similarity search.</a:t>
            </a: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Dashboard &amp; Analytics:</a:t>
            </a:r>
            <a:r>
              <a:rPr kumimoji="0" lang="en-US" altLang="en-US" sz="1800" b="0" i="0" u="none" strike="noStrike" cap="none" normalizeH="0" baseline="0" dirty="0" smtClean="0">
                <a:ln>
                  <a:noFill/>
                </a:ln>
                <a:solidFill>
                  <a:schemeClr val="tx1"/>
                </a:solidFill>
                <a:effectLst/>
                <a:latin typeface="Arial" panose="020B0604020202020204" pitchFamily="34" charset="0"/>
              </a:rPr>
              <a:t> monitors data to detect references added incorrectly, </a:t>
            </a:r>
          </a:p>
          <a:p>
            <a:pPr marL="0" indent="0" eaLnBrk="0" fontAlgn="base" hangingPunct="0">
              <a:lnSpc>
                <a:spcPct val="100000"/>
              </a:lnSpc>
              <a:spcBef>
                <a:spcPct val="0"/>
              </a:spcBef>
              <a:spcAft>
                <a:spcPct val="0"/>
              </a:spcAft>
              <a:buClrTx/>
              <a:buSzTx/>
              <a:buNone/>
            </a:pPr>
            <a:r>
              <a:rPr kumimoji="0" lang="en-US" altLang="en-US" sz="1800" b="0" i="0" u="none" strike="noStrike" cap="none" normalizeH="0" baseline="0" dirty="0" smtClean="0">
                <a:ln>
                  <a:noFill/>
                </a:ln>
                <a:solidFill>
                  <a:schemeClr val="tx1"/>
                </a:solidFill>
                <a:effectLst/>
                <a:latin typeface="Arial" panose="020B0604020202020204" pitchFamily="34" charset="0"/>
              </a:rPr>
              <a:t>and flags</a:t>
            </a:r>
            <a:r>
              <a:rPr lang="en-US" altLang="en-US" dirty="0" smtClean="0">
                <a:latin typeface="Arial" panose="020B0604020202020204" pitchFamily="34" charset="0"/>
              </a:rPr>
              <a:t> data</a:t>
            </a:r>
            <a:r>
              <a:rPr kumimoji="0" lang="en-US" altLang="en-US" sz="1800" b="0" i="0" u="none" strike="noStrike" cap="none" normalizeH="0" baseline="0" dirty="0" smtClean="0">
                <a:ln>
                  <a:noFill/>
                </a:ln>
                <a:solidFill>
                  <a:schemeClr val="tx1"/>
                </a:solidFill>
                <a:effectLst/>
                <a:latin typeface="Arial" panose="020B0604020202020204" pitchFamily="34" charset="0"/>
              </a:rPr>
              <a:t> for reconciliation.</a:t>
            </a: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Data Reconciliation:</a:t>
            </a:r>
            <a:r>
              <a:rPr kumimoji="0" lang="en-US" altLang="en-US" sz="1800" b="0" i="0" u="none" strike="noStrike" cap="none" normalizeH="0" baseline="0" dirty="0" smtClean="0">
                <a:ln>
                  <a:noFill/>
                </a:ln>
                <a:solidFill>
                  <a:schemeClr val="tx1"/>
                </a:solidFill>
                <a:effectLst/>
                <a:latin typeface="Arial" panose="020B0604020202020204" pitchFamily="34" charset="0"/>
              </a:rPr>
              <a:t> merges duplicates or similar items to maintain database integrity.</a:t>
            </a:r>
          </a:p>
          <a:p>
            <a:pPr eaLnBrk="0" fontAlgn="base" hangingPunct="0">
              <a:lnSpc>
                <a:spcPct val="100000"/>
              </a:lnSpc>
              <a:spcBef>
                <a:spcPct val="0"/>
              </a:spcBef>
              <a:spcAft>
                <a:spcPct val="0"/>
              </a:spcAft>
              <a:buClrTx/>
              <a:buSzTx/>
            </a:pPr>
            <a:r>
              <a:rPr kumimoji="0" lang="en-US" altLang="en-US" sz="1800" b="1" i="0" u="none" strike="noStrike" cap="none" normalizeH="0" baseline="0" dirty="0" smtClean="0">
                <a:ln>
                  <a:noFill/>
                </a:ln>
                <a:solidFill>
                  <a:schemeClr val="tx1"/>
                </a:solidFill>
                <a:effectLst/>
                <a:latin typeface="Arial" panose="020B0604020202020204" pitchFamily="34" charset="0"/>
              </a:rPr>
              <a:t>Sentiment Analysis:</a:t>
            </a:r>
            <a:r>
              <a:rPr kumimoji="0" lang="en-US" altLang="en-US" sz="1800" b="0" i="0" u="none" strike="noStrike" cap="none" normalizeH="0" baseline="0" dirty="0" smtClean="0">
                <a:ln>
                  <a:noFill/>
                </a:ln>
                <a:solidFill>
                  <a:schemeClr val="tx1"/>
                </a:solidFill>
                <a:effectLst/>
                <a:latin typeface="Arial" panose="020B0604020202020204" pitchFamily="34" charset="0"/>
              </a:rPr>
              <a:t> analyzes customer feedback (through</a:t>
            </a:r>
            <a:r>
              <a:rPr kumimoji="0" lang="en-US" altLang="en-US" sz="1800" b="0" i="0" u="none" strike="noStrike" cap="none" normalizeH="0" dirty="0" smtClean="0">
                <a:ln>
                  <a:noFill/>
                </a:ln>
                <a:solidFill>
                  <a:schemeClr val="tx1"/>
                </a:solidFill>
                <a:effectLst/>
                <a:latin typeface="Arial" panose="020B0604020202020204" pitchFamily="34" charset="0"/>
              </a:rPr>
              <a:t> e-receipts)</a:t>
            </a:r>
            <a:r>
              <a:rPr kumimoji="0" lang="en-US" altLang="en-US" sz="1800" b="0" i="0" u="none" strike="noStrike" cap="none" normalizeH="0" baseline="0" dirty="0" smtClean="0">
                <a:ln>
                  <a:noFill/>
                </a:ln>
                <a:solidFill>
                  <a:schemeClr val="tx1"/>
                </a:solidFill>
                <a:effectLst/>
                <a:latin typeface="Arial" panose="020B0604020202020204" pitchFamily="34" charset="0"/>
              </a:rPr>
              <a:t> for insights.</a:t>
            </a:r>
          </a:p>
        </p:txBody>
      </p:sp>
    </p:spTree>
    <p:extLst>
      <p:ext uri="{BB962C8B-B14F-4D97-AF65-F5344CB8AC3E}">
        <p14:creationId xmlns:p14="http://schemas.microsoft.com/office/powerpoint/2010/main" val="127904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p:txBody>
          <a:bodyPr/>
          <a:lstStyle/>
          <a:p>
            <a:pPr marL="342900" indent="-342900">
              <a:buFont typeface="+mj-lt"/>
              <a:buAutoNum type="arabicPeriod"/>
            </a:pPr>
            <a:r>
              <a:rPr lang="en-US" b="1" dirty="0" smtClean="0"/>
              <a:t>Data Collection:</a:t>
            </a:r>
            <a:r>
              <a:rPr lang="en-US" b="1" dirty="0"/>
              <a:t/>
            </a:r>
            <a:br>
              <a:rPr lang="en-US" b="1" dirty="0"/>
            </a:br>
            <a:r>
              <a:rPr lang="en-US" dirty="0" smtClean="0"/>
              <a:t>using </a:t>
            </a:r>
            <a:r>
              <a:rPr lang="en-US" dirty="0"/>
              <a:t>web scraping tools </a:t>
            </a:r>
            <a:r>
              <a:rPr lang="en-US" dirty="0" smtClean="0"/>
              <a:t>we will </a:t>
            </a:r>
            <a:r>
              <a:rPr lang="en-US" dirty="0"/>
              <a:t>automatically </a:t>
            </a:r>
            <a:r>
              <a:rPr lang="en-US" dirty="0" smtClean="0"/>
              <a:t>collect our data set. The </a:t>
            </a:r>
            <a:r>
              <a:rPr lang="en-US" dirty="0"/>
              <a:t>scraped data is cleaned and </a:t>
            </a:r>
            <a:r>
              <a:rPr lang="en-US" dirty="0" smtClean="0"/>
              <a:t>standardized. </a:t>
            </a:r>
            <a:r>
              <a:rPr lang="en-US" dirty="0"/>
              <a:t>all cleaned and structured data is stored in an SQL </a:t>
            </a:r>
            <a:r>
              <a:rPr lang="en-US" dirty="0" smtClean="0"/>
              <a:t>with </a:t>
            </a:r>
            <a:r>
              <a:rPr lang="en-US" dirty="0"/>
              <a:t>tables for product </a:t>
            </a:r>
            <a:r>
              <a:rPr lang="en-US" dirty="0" smtClean="0"/>
              <a:t>info</a:t>
            </a:r>
            <a:r>
              <a:rPr lang="en-US" dirty="0"/>
              <a:t>, images, and references</a:t>
            </a:r>
            <a:r>
              <a:rPr lang="en-US" dirty="0" smtClean="0"/>
              <a:t>.</a:t>
            </a:r>
          </a:p>
          <a:p>
            <a:pPr marL="342900" indent="-342900">
              <a:buFont typeface="+mj-lt"/>
              <a:buAutoNum type="arabicPeriod"/>
            </a:pPr>
            <a:r>
              <a:rPr lang="en-US" b="1" dirty="0"/>
              <a:t>Vector Embedding's</a:t>
            </a:r>
            <a:r>
              <a:rPr lang="en-US" b="1" dirty="0" smtClean="0"/>
              <a:t>: </a:t>
            </a:r>
          </a:p>
          <a:p>
            <a:pPr marL="0" indent="0">
              <a:buNone/>
            </a:pPr>
            <a:r>
              <a:rPr lang="en-US" dirty="0" smtClean="0"/>
              <a:t>each </a:t>
            </a:r>
            <a:r>
              <a:rPr lang="en-US" dirty="0"/>
              <a:t>product has a description </a:t>
            </a:r>
            <a:r>
              <a:rPr lang="en-US" dirty="0" smtClean="0"/>
              <a:t>(color</a:t>
            </a:r>
            <a:r>
              <a:rPr lang="en-US" dirty="0"/>
              <a:t>, type, material, </a:t>
            </a:r>
            <a:r>
              <a:rPr lang="en-US" dirty="0" smtClean="0"/>
              <a:t>size).</a:t>
            </a:r>
            <a:r>
              <a:rPr lang="en-US" dirty="0"/>
              <a:t> </a:t>
            </a:r>
            <a:r>
              <a:rPr lang="en-US" dirty="0" smtClean="0"/>
              <a:t>We will take </a:t>
            </a:r>
            <a:r>
              <a:rPr lang="en-US" dirty="0"/>
              <a:t>that text and feed it into a pre-trained model </a:t>
            </a:r>
            <a:r>
              <a:rPr lang="en-US" dirty="0" smtClean="0"/>
              <a:t>the </a:t>
            </a:r>
            <a:r>
              <a:rPr lang="en-US" dirty="0"/>
              <a:t>model converts the description into a vector (a long list of </a:t>
            </a:r>
            <a:r>
              <a:rPr lang="en-US" dirty="0" smtClean="0"/>
              <a:t>numbers).</a:t>
            </a:r>
          </a:p>
          <a:p>
            <a:pPr marL="342900" indent="-342900">
              <a:buFont typeface="+mj-lt"/>
              <a:buAutoNum type="arabicPeriod"/>
            </a:pPr>
            <a:r>
              <a:rPr lang="en-US" b="1" dirty="0" smtClean="0"/>
              <a:t>Mobile Application:</a:t>
            </a:r>
          </a:p>
          <a:p>
            <a:pPr marL="0" indent="0">
              <a:buNone/>
            </a:pPr>
            <a:r>
              <a:rPr lang="en-US" b="1" dirty="0" smtClean="0"/>
              <a:t> t</a:t>
            </a:r>
            <a:r>
              <a:rPr lang="en-US" dirty="0" smtClean="0"/>
              <a:t>he </a:t>
            </a:r>
            <a:r>
              <a:rPr lang="en-US" dirty="0"/>
              <a:t>mobile app is designed </a:t>
            </a:r>
            <a:r>
              <a:rPr lang="en-US" u="sng" dirty="0"/>
              <a:t>only for capturing product </a:t>
            </a:r>
            <a:r>
              <a:rPr lang="en-US" u="sng" dirty="0" smtClean="0"/>
              <a:t>information </a:t>
            </a:r>
            <a:r>
              <a:rPr lang="en-US" dirty="0" smtClean="0"/>
              <a:t>(either the tag or the item itself), </a:t>
            </a:r>
            <a:r>
              <a:rPr lang="en-US" dirty="0"/>
              <a:t>not full catalog browsing.</a:t>
            </a:r>
            <a:endParaRPr lang="en-US" b="1" dirty="0" smtClean="0"/>
          </a:p>
          <a:p>
            <a:pPr marL="342900" indent="-342900">
              <a:buFont typeface="+mj-lt"/>
              <a:buAutoNum type="arabicPeriod"/>
            </a:pPr>
            <a:endParaRPr lang="en-US" b="1" dirty="0"/>
          </a:p>
        </p:txBody>
      </p:sp>
    </p:spTree>
    <p:extLst>
      <p:ext uri="{BB962C8B-B14F-4D97-AF65-F5344CB8AC3E}">
        <p14:creationId xmlns:p14="http://schemas.microsoft.com/office/powerpoint/2010/main" val="1415523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p:txBody>
          <a:bodyPr>
            <a:normAutofit fontScale="92500" lnSpcReduction="20000"/>
          </a:bodyPr>
          <a:lstStyle/>
          <a:p>
            <a:pPr marL="342900" indent="-342900">
              <a:buFont typeface="+mj-lt"/>
              <a:buAutoNum type="arabicPeriod" startAt="4"/>
            </a:pPr>
            <a:r>
              <a:rPr lang="en-US" b="1" dirty="0"/>
              <a:t>AI </a:t>
            </a:r>
            <a:r>
              <a:rPr lang="en-US" b="1" dirty="0" smtClean="0"/>
              <a:t>Recognition:</a:t>
            </a:r>
          </a:p>
          <a:p>
            <a:pPr marL="0" indent="0">
              <a:buNone/>
            </a:pPr>
            <a:r>
              <a:rPr lang="en-US" b="1" dirty="0" smtClean="0"/>
              <a:t>primary function (UPC/OCR):</a:t>
            </a:r>
            <a:r>
              <a:rPr lang="en-US" dirty="0" smtClean="0"/>
              <a:t> </a:t>
            </a:r>
            <a:r>
              <a:rPr lang="en-US" dirty="0"/>
              <a:t>scan the </a:t>
            </a:r>
            <a:r>
              <a:rPr lang="en-US" u="sng" dirty="0"/>
              <a:t>internal tag </a:t>
            </a:r>
            <a:r>
              <a:rPr lang="en-US" dirty="0"/>
              <a:t>of the item using the phone’s camera</a:t>
            </a:r>
            <a:r>
              <a:rPr lang="en-US" dirty="0" smtClean="0"/>
              <a:t>. </a:t>
            </a:r>
          </a:p>
          <a:p>
            <a:pPr marL="0" indent="0">
              <a:buNone/>
            </a:pPr>
            <a:r>
              <a:rPr lang="en-US" dirty="0"/>
              <a:t>the AI will try to read the tag first. if the item has a UPC barcode, the app scans it for the fastest and most accurate match. if no UPC is present but the tag is readable, the system uses OCR to read the tag. once a valid tag is read, it is used for price suggestion and reference generation.</a:t>
            </a:r>
            <a:endParaRPr lang="en-US" b="1" dirty="0" smtClean="0"/>
          </a:p>
          <a:p>
            <a:pPr marL="0" indent="0">
              <a:buNone/>
            </a:pPr>
            <a:r>
              <a:rPr lang="en-US" b="1" dirty="0"/>
              <a:t>secondary function (fallback):</a:t>
            </a:r>
            <a:r>
              <a:rPr lang="en-US" dirty="0"/>
              <a:t> if the internal tag is missing or unreadable, the app will take a </a:t>
            </a:r>
            <a:r>
              <a:rPr lang="en-US" u="sng" dirty="0"/>
              <a:t>photo of the item itself</a:t>
            </a:r>
            <a:r>
              <a:rPr lang="en-US" u="sng" dirty="0" smtClean="0"/>
              <a:t>.</a:t>
            </a:r>
          </a:p>
          <a:p>
            <a:pPr marL="0" indent="0">
              <a:buNone/>
            </a:pPr>
            <a:r>
              <a:rPr lang="en-US" dirty="0" smtClean="0"/>
              <a:t>Thus the </a:t>
            </a:r>
            <a:r>
              <a:rPr lang="en-US" dirty="0"/>
              <a:t>AI </a:t>
            </a:r>
            <a:r>
              <a:rPr lang="en-US" dirty="0" smtClean="0"/>
              <a:t>will then use </a:t>
            </a:r>
            <a:r>
              <a:rPr lang="en-US" dirty="0"/>
              <a:t>the </a:t>
            </a:r>
            <a:r>
              <a:rPr lang="en-US" dirty="0" smtClean="0"/>
              <a:t>vector embedding's to </a:t>
            </a:r>
            <a:r>
              <a:rPr lang="en-US" dirty="0"/>
              <a:t>find the closest match in the database</a:t>
            </a:r>
            <a:r>
              <a:rPr lang="en-US" dirty="0" smtClean="0"/>
              <a:t>.</a:t>
            </a:r>
          </a:p>
          <a:p>
            <a:pPr marL="342900" indent="-342900">
              <a:buFont typeface="+mj-lt"/>
              <a:buAutoNum type="arabicPeriod" startAt="5"/>
            </a:pPr>
            <a:r>
              <a:rPr lang="en-US" b="1" dirty="0"/>
              <a:t>Backend Processing</a:t>
            </a:r>
            <a:r>
              <a:rPr lang="en-US" dirty="0"/>
              <a:t>: </a:t>
            </a:r>
            <a:endParaRPr lang="en-US" dirty="0" smtClean="0"/>
          </a:p>
          <a:p>
            <a:pPr marL="0" indent="0">
              <a:buNone/>
            </a:pPr>
            <a:r>
              <a:rPr lang="en-US" dirty="0" smtClean="0"/>
              <a:t>the </a:t>
            </a:r>
            <a:r>
              <a:rPr lang="en-US" dirty="0"/>
              <a:t>captured data is sent to the backend API, which returns</a:t>
            </a:r>
            <a:r>
              <a:rPr lang="en-US" dirty="0" smtClean="0"/>
              <a:t>: suggested price, new reference, supervisor </a:t>
            </a:r>
            <a:r>
              <a:rPr lang="en-US" dirty="0"/>
              <a:t>approval </a:t>
            </a:r>
            <a:r>
              <a:rPr lang="en-US" dirty="0" smtClean="0"/>
              <a:t>button.</a:t>
            </a:r>
          </a:p>
        </p:txBody>
      </p:sp>
    </p:spTree>
    <p:extLst>
      <p:ext uri="{BB962C8B-B14F-4D97-AF65-F5344CB8AC3E}">
        <p14:creationId xmlns:p14="http://schemas.microsoft.com/office/powerpoint/2010/main" val="1710052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p:txBody>
          <a:bodyPr/>
          <a:lstStyle/>
          <a:p>
            <a:pPr marL="342900" indent="-342900">
              <a:buFont typeface="+mj-lt"/>
              <a:buAutoNum type="arabicPeriod" startAt="6"/>
            </a:pPr>
            <a:r>
              <a:rPr lang="en-US" b="1" dirty="0" smtClean="0"/>
              <a:t>Price Suggestion &amp; Ref gen:</a:t>
            </a:r>
          </a:p>
          <a:p>
            <a:pPr marL="0" indent="0">
              <a:buNone/>
            </a:pPr>
            <a:r>
              <a:rPr lang="en-US" dirty="0" smtClean="0"/>
              <a:t>if </a:t>
            </a:r>
            <a:r>
              <a:rPr lang="en-US" dirty="0"/>
              <a:t>the product matches an existing item in the </a:t>
            </a:r>
            <a:r>
              <a:rPr lang="en-US" dirty="0" smtClean="0"/>
              <a:t>database, the </a:t>
            </a:r>
            <a:r>
              <a:rPr lang="en-US" dirty="0"/>
              <a:t>system can suggest the price from the matched item</a:t>
            </a:r>
            <a:r>
              <a:rPr lang="en-US" dirty="0" smtClean="0"/>
              <a:t>. if </a:t>
            </a:r>
            <a:r>
              <a:rPr lang="en-US" dirty="0"/>
              <a:t>it’s a completely new item </a:t>
            </a:r>
            <a:r>
              <a:rPr lang="en-US" dirty="0" smtClean="0"/>
              <a:t>with no close matches, it will be calculated based </a:t>
            </a:r>
            <a:r>
              <a:rPr lang="en-US" dirty="0"/>
              <a:t>on similar products in the database </a:t>
            </a:r>
            <a:r>
              <a:rPr lang="en-US" dirty="0" smtClean="0"/>
              <a:t>(average </a:t>
            </a:r>
            <a:r>
              <a:rPr lang="en-US" dirty="0"/>
              <a:t>price for similar </a:t>
            </a:r>
            <a:r>
              <a:rPr lang="en-US" dirty="0" smtClean="0"/>
              <a:t>color, type, etc.)</a:t>
            </a:r>
          </a:p>
          <a:p>
            <a:pPr marL="0" indent="0">
              <a:buNone/>
            </a:pPr>
            <a:r>
              <a:rPr lang="en-US" dirty="0" smtClean="0"/>
              <a:t>every </a:t>
            </a:r>
            <a:r>
              <a:rPr lang="en-US" dirty="0"/>
              <a:t>new product needs a unique reference code to track it in the system</a:t>
            </a:r>
            <a:r>
              <a:rPr lang="en-US" dirty="0" smtClean="0"/>
              <a:t>. the </a:t>
            </a:r>
            <a:r>
              <a:rPr lang="en-US" dirty="0"/>
              <a:t>system can automatically generate a </a:t>
            </a:r>
            <a:r>
              <a:rPr lang="en-US" dirty="0" smtClean="0"/>
              <a:t>ref using a </a:t>
            </a:r>
            <a:r>
              <a:rPr lang="en-US" dirty="0"/>
              <a:t>combination of product type, category, color code, and a unique </a:t>
            </a:r>
            <a:r>
              <a:rPr lang="en-US" dirty="0" smtClean="0"/>
              <a:t>number or </a:t>
            </a:r>
            <a:r>
              <a:rPr lang="en-US" dirty="0"/>
              <a:t>a sequential numeric code ensuring no </a:t>
            </a:r>
            <a:r>
              <a:rPr lang="en-US" dirty="0" smtClean="0"/>
              <a:t>duplicates, this </a:t>
            </a:r>
            <a:r>
              <a:rPr lang="en-US" dirty="0"/>
              <a:t>ref is then linked to the product in the database</a:t>
            </a:r>
            <a:r>
              <a:rPr lang="en-US" dirty="0" smtClean="0"/>
              <a:t>.</a:t>
            </a:r>
          </a:p>
          <a:p>
            <a:pPr marL="342900" indent="-342900">
              <a:buFont typeface="+mj-lt"/>
              <a:buAutoNum type="arabicPeriod" startAt="7"/>
            </a:pPr>
            <a:r>
              <a:rPr lang="en-US" b="1" dirty="0" smtClean="0"/>
              <a:t>Supervisor Approval: </a:t>
            </a:r>
          </a:p>
          <a:p>
            <a:pPr marL="0" indent="0">
              <a:buNone/>
            </a:pPr>
            <a:r>
              <a:rPr lang="en-US" dirty="0" smtClean="0"/>
              <a:t>any </a:t>
            </a:r>
            <a:r>
              <a:rPr lang="en-US" dirty="0"/>
              <a:t>new reference or suggested price must be reviewed and approved by a supervisor before it is officially added to the </a:t>
            </a:r>
            <a:r>
              <a:rPr lang="en-US" dirty="0" smtClean="0"/>
              <a:t>database for data integrity.</a:t>
            </a:r>
          </a:p>
        </p:txBody>
      </p:sp>
    </p:spTree>
    <p:extLst>
      <p:ext uri="{BB962C8B-B14F-4D97-AF65-F5344CB8AC3E}">
        <p14:creationId xmlns:p14="http://schemas.microsoft.com/office/powerpoint/2010/main" val="2395953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p:txBody>
          <a:bodyPr/>
          <a:lstStyle/>
          <a:p>
            <a:pPr marL="342900" indent="-342900">
              <a:buFont typeface="+mj-lt"/>
              <a:buAutoNum type="arabicPeriod" startAt="8"/>
            </a:pPr>
            <a:r>
              <a:rPr lang="en-US" b="1" dirty="0" smtClean="0"/>
              <a:t>Dashboard Monitoring:</a:t>
            </a:r>
          </a:p>
          <a:p>
            <a:pPr marL="0" indent="0">
              <a:buNone/>
            </a:pPr>
            <a:r>
              <a:rPr lang="en-US" dirty="0"/>
              <a:t>the system automatically checks newly added references and items for errors. it can detect duplicates, incorrect categories, or prices that are unusually high or low compared to similar products. flagged items are shown to </a:t>
            </a:r>
            <a:r>
              <a:rPr lang="en-US" dirty="0" smtClean="0"/>
              <a:t>Admins </a:t>
            </a:r>
            <a:r>
              <a:rPr lang="en-US" dirty="0"/>
              <a:t>for review.</a:t>
            </a:r>
          </a:p>
          <a:p>
            <a:pPr marL="0" indent="0">
              <a:buNone/>
            </a:pPr>
            <a:r>
              <a:rPr lang="en-US" dirty="0"/>
              <a:t>the dashboard also tracks patterns in mistakes, like items that are often misread by OCR or UPC scans, helping improve the AI recognition system over time.</a:t>
            </a:r>
          </a:p>
          <a:p>
            <a:pPr marL="0" indent="0">
              <a:buNone/>
            </a:pPr>
            <a:r>
              <a:rPr lang="en-US" dirty="0"/>
              <a:t>items that appear similar but have different references, or items missing critical information, are flagged for reconciliation. the system can</a:t>
            </a:r>
            <a:r>
              <a:rPr lang="en-US" b="1" dirty="0"/>
              <a:t> </a:t>
            </a:r>
            <a:r>
              <a:rPr lang="en-US" dirty="0"/>
              <a:t>propose merges or corrections based on similarity scores, string matching,</a:t>
            </a:r>
            <a:endParaRPr lang="en-US" b="1" dirty="0" smtClean="0"/>
          </a:p>
          <a:p>
            <a:endParaRPr lang="en-US" dirty="0"/>
          </a:p>
        </p:txBody>
      </p:sp>
    </p:spTree>
    <p:extLst>
      <p:ext uri="{BB962C8B-B14F-4D97-AF65-F5344CB8AC3E}">
        <p14:creationId xmlns:p14="http://schemas.microsoft.com/office/powerpoint/2010/main" val="819789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Methodology</a:t>
            </a:r>
            <a:endParaRPr lang="en-US" dirty="0"/>
          </a:p>
        </p:txBody>
      </p:sp>
      <p:sp>
        <p:nvSpPr>
          <p:cNvPr id="3" name="Content Placeholder 2"/>
          <p:cNvSpPr>
            <a:spLocks noGrp="1"/>
          </p:cNvSpPr>
          <p:nvPr>
            <p:ph idx="1"/>
          </p:nvPr>
        </p:nvSpPr>
        <p:spPr/>
        <p:txBody>
          <a:bodyPr>
            <a:normAutofit/>
          </a:bodyPr>
          <a:lstStyle/>
          <a:p>
            <a:pPr marL="342900" indent="-342900">
              <a:buFont typeface="+mj-lt"/>
              <a:buAutoNum type="arabicPeriod" startAt="9"/>
            </a:pPr>
            <a:r>
              <a:rPr lang="en-US" b="1" dirty="0" smtClean="0"/>
              <a:t>Data Reconciliation:</a:t>
            </a:r>
          </a:p>
          <a:p>
            <a:pPr marL="0" indent="0">
              <a:buNone/>
            </a:pPr>
            <a:r>
              <a:rPr lang="en-US" dirty="0" smtClean="0"/>
              <a:t>For </a:t>
            </a:r>
            <a:r>
              <a:rPr lang="en-US" dirty="0"/>
              <a:t>low-risk or high-confidence cases, the system can automatically merge duplicates or fix minor issues, like missing color codes or standardized categories. </a:t>
            </a:r>
            <a:r>
              <a:rPr lang="en-US" dirty="0" smtClean="0"/>
              <a:t>Medium and low confidence </a:t>
            </a:r>
            <a:r>
              <a:rPr lang="en-US" dirty="0"/>
              <a:t>cases are sent to the </a:t>
            </a:r>
            <a:r>
              <a:rPr lang="en-US" dirty="0" smtClean="0"/>
              <a:t>Admin </a:t>
            </a:r>
            <a:r>
              <a:rPr lang="en-US" dirty="0"/>
              <a:t>for </a:t>
            </a:r>
            <a:r>
              <a:rPr lang="en-US" dirty="0" smtClean="0"/>
              <a:t>review. </a:t>
            </a:r>
            <a:r>
              <a:rPr lang="en-US" dirty="0" smtClean="0"/>
              <a:t>Admins </a:t>
            </a:r>
            <a:r>
              <a:rPr lang="en-US" dirty="0"/>
              <a:t>can approve or reject suggested merges and corrections, ensuring database accuracy. </a:t>
            </a:r>
            <a:endParaRPr lang="en-US" dirty="0" smtClean="0"/>
          </a:p>
          <a:p>
            <a:pPr marL="342900" indent="-342900">
              <a:buFont typeface="+mj-lt"/>
              <a:buAutoNum type="arabicPeriod" startAt="10"/>
            </a:pPr>
            <a:r>
              <a:rPr lang="en-US" b="1" dirty="0" smtClean="0"/>
              <a:t>Sentiment Analysis:</a:t>
            </a:r>
            <a:r>
              <a:rPr lang="en-US" dirty="0"/>
              <a:t/>
            </a:r>
            <a:br>
              <a:rPr lang="en-US" dirty="0"/>
            </a:br>
            <a:r>
              <a:rPr lang="en-US" dirty="0"/>
              <a:t>the system sends automated emails to customers through their e-receipts, requesting feedback on purchased items or their shopping </a:t>
            </a:r>
            <a:r>
              <a:rPr lang="en-US" dirty="0" smtClean="0"/>
              <a:t>experience. Once </a:t>
            </a:r>
            <a:r>
              <a:rPr lang="en-US" dirty="0"/>
              <a:t>feedback is received, the system uses sentiment analysis to classify responses as positive, negative, or neutral. </a:t>
            </a:r>
            <a:r>
              <a:rPr lang="en-US" dirty="0" smtClean="0"/>
              <a:t>The results </a:t>
            </a:r>
            <a:r>
              <a:rPr lang="en-US" dirty="0"/>
              <a:t>are </a:t>
            </a:r>
            <a:r>
              <a:rPr lang="en-US" dirty="0" smtClean="0"/>
              <a:t>gathered </a:t>
            </a:r>
            <a:r>
              <a:rPr lang="en-US" dirty="0"/>
              <a:t>in the dashboard to provide </a:t>
            </a:r>
            <a:r>
              <a:rPr lang="en-US" dirty="0" smtClean="0"/>
              <a:t>insights.</a:t>
            </a:r>
            <a:endParaRPr lang="en-US" dirty="0"/>
          </a:p>
        </p:txBody>
      </p:sp>
    </p:spTree>
    <p:extLst>
      <p:ext uri="{BB962C8B-B14F-4D97-AF65-F5344CB8AC3E}">
        <p14:creationId xmlns:p14="http://schemas.microsoft.com/office/powerpoint/2010/main" val="528177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a:bodyPr>
          <a:lstStyle/>
          <a:p>
            <a:r>
              <a:rPr lang="en-US" dirty="0"/>
              <a:t>Overall, this project aims to make retail operations smoother and more reliable by keeping product data clean, accurate, and easy to access.</a:t>
            </a:r>
            <a:br>
              <a:rPr lang="en-US" dirty="0"/>
            </a:br>
            <a:r>
              <a:rPr lang="en-US" dirty="0"/>
              <a:t>Through the use of image </a:t>
            </a:r>
            <a:r>
              <a:rPr lang="en-US" dirty="0" smtClean="0"/>
              <a:t>recognition, </a:t>
            </a:r>
            <a:r>
              <a:rPr lang="en-US" dirty="0"/>
              <a:t>our system can automatically identify products and fill in missing details, cutting down on manual work and reducing human error.</a:t>
            </a:r>
            <a:br>
              <a:rPr lang="en-US" dirty="0"/>
            </a:br>
            <a:r>
              <a:rPr lang="en-US" dirty="0" smtClean="0"/>
              <a:t>it </a:t>
            </a:r>
            <a:r>
              <a:rPr lang="en-US" dirty="0"/>
              <a:t>helps employees work more efficiently and creates a better shopping experience for customers.</a:t>
            </a:r>
          </a:p>
        </p:txBody>
      </p:sp>
    </p:spTree>
    <p:extLst>
      <p:ext uri="{BB962C8B-B14F-4D97-AF65-F5344CB8AC3E}">
        <p14:creationId xmlns:p14="http://schemas.microsoft.com/office/powerpoint/2010/main" val="3494801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Product Recognition and Reconciliation System </a:t>
            </a:r>
          </a:p>
        </p:txBody>
      </p:sp>
      <p:sp>
        <p:nvSpPr>
          <p:cNvPr id="3" name="Subtitle 2"/>
          <p:cNvSpPr>
            <a:spLocks noGrp="1"/>
          </p:cNvSpPr>
          <p:nvPr>
            <p:ph type="subTitle" idx="1"/>
          </p:nvPr>
        </p:nvSpPr>
        <p:spPr/>
        <p:txBody>
          <a:bodyPr/>
          <a:lstStyle/>
          <a:p>
            <a:r>
              <a:rPr lang="en-US" dirty="0" err="1" smtClean="0"/>
              <a:t>Zainab</a:t>
            </a:r>
            <a:r>
              <a:rPr lang="en-US" dirty="0" smtClean="0"/>
              <a:t> </a:t>
            </a:r>
            <a:r>
              <a:rPr lang="en-US" dirty="0" err="1" smtClean="0"/>
              <a:t>Dia</a:t>
            </a:r>
            <a:endParaRPr lang="en-US" dirty="0" smtClean="0"/>
          </a:p>
          <a:p>
            <a:r>
              <a:rPr lang="en-US" dirty="0" smtClean="0"/>
              <a:t>Mohammad </a:t>
            </a:r>
            <a:r>
              <a:rPr lang="en-US" dirty="0" err="1" smtClean="0"/>
              <a:t>Iskandarani</a:t>
            </a:r>
            <a:endParaRPr lang="en-US" dirty="0"/>
          </a:p>
        </p:txBody>
      </p:sp>
    </p:spTree>
    <p:extLst>
      <p:ext uri="{BB962C8B-B14F-4D97-AF65-F5344CB8AC3E}">
        <p14:creationId xmlns:p14="http://schemas.microsoft.com/office/powerpoint/2010/main" val="174749112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168</TotalTime>
  <Words>726</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Schoolbook</vt:lpstr>
      <vt:lpstr>Wingdings 2</vt:lpstr>
      <vt:lpstr>View</vt:lpstr>
      <vt:lpstr>Product Recognition and Reconciliation System </vt:lpstr>
      <vt:lpstr>Introduction</vt:lpstr>
      <vt:lpstr>Key Features</vt:lpstr>
      <vt:lpstr>Methodology</vt:lpstr>
      <vt:lpstr>Methodology</vt:lpstr>
      <vt:lpstr>Methodology</vt:lpstr>
      <vt:lpstr>Methodology</vt:lpstr>
      <vt:lpstr>Methodology</vt:lpstr>
      <vt:lpstr>Conclusion</vt:lpstr>
      <vt:lpstr>Product Recognition and Reconciliation System </vt:lpstr>
    </vt:vector>
  </TitlesOfParts>
  <Company>SACC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Recognition and Reconciliation System (PRRS)</dc:title>
  <dc:creator>Maher Fattouh</dc:creator>
  <cp:lastModifiedBy>Maher Fattouh</cp:lastModifiedBy>
  <cp:revision>16</cp:revision>
  <dcterms:created xsi:type="dcterms:W3CDTF">2025-10-08T19:23:21Z</dcterms:created>
  <dcterms:modified xsi:type="dcterms:W3CDTF">2025-10-10T18:06:55Z</dcterms:modified>
</cp:coreProperties>
</file>